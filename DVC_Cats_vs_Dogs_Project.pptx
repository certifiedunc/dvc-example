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DVC for ML: Cats vs Dogs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Project-specific walkthrough, pipeline run, and tracked outputs</a:t>
            </a:r>
            <a:br/>
            <a:br/>
            <a:r>
              <a:rPr/>
              <a:t>DVC Example Repo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October 13,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Show how this repository uses DVC for ML reproducibility.</a:t>
            </a:r>
          </a:p>
          <a:p>
            <a:pPr lvl="0"/>
            <a:r>
              <a:rPr/>
              <a:t>Focus on the local cats-vs-dogs classifier project.</a:t>
            </a:r>
          </a:p>
          <a:p>
            <a:pPr lvl="0"/>
            <a:r>
              <a:rPr/>
              <a:t>Remove broad, unrelated DVC theory from the original deck.</a:t>
            </a:r>
          </a:p>
          <a:p>
            <a:pPr lvl="0"/>
            <a:r>
              <a:rPr/>
              <a:t>Keep the final deck below 20 slides.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Task: binary image classification for cats vs dogs.</a:t>
            </a:r>
          </a:p>
          <a:p>
            <a:pPr lvl="0"/>
            <a:r>
              <a:rPr/>
              <a:t>Data: 1,800 local images tracked by DVC.</a:t>
            </a:r>
          </a:p>
          <a:p>
            <a:pPr lvl="0"/>
            <a:r>
              <a:rPr/>
              <a:t>Training: VGG16 bottleneck features plus a small dense classifier.</a:t>
            </a:r>
          </a:p>
          <a:p>
            <a:pPr lvl="0"/>
            <a:r>
              <a:rPr/>
              <a:t>Reproducibility: data, parameters, metrics, and artifacts are connected through </a:t>
            </a:r>
            <a:r>
              <a:rPr>
                <a:latin typeface="Courier"/>
              </a:rPr>
              <a:t>dvc.yaml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Repository Structure</a:t>
            </a:r>
          </a:p>
        </p:txBody>
      </p:sp>
      <p:pic>
        <p:nvPicPr>
          <p:cNvPr descr="presentation_assets/project_tree_screensh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5981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DVC Role in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Git tracks code and lightweight metadata.</a:t>
            </a:r>
          </a:p>
          <a:p>
            <a:pPr lvl="0"/>
            <a:r>
              <a:rPr/>
              <a:t>DVC tracks the dataset and generated ML artifacts.</a:t>
            </a:r>
          </a:p>
          <a:p>
            <a:pPr lvl="0"/>
            <a:r>
              <a:rPr>
                <a:latin typeface="Courier"/>
              </a:rPr>
              <a:t>data.dvc</a:t>
            </a:r>
            <a:r>
              <a:rPr/>
              <a:t> records the dataset version.</a:t>
            </a:r>
          </a:p>
          <a:p>
            <a:pPr lvl="0"/>
            <a:r>
              <a:rPr>
                <a:latin typeface="Courier"/>
              </a:rPr>
              <a:t>dvc.yaml</a:t>
            </a:r>
            <a:r>
              <a:rPr/>
              <a:t> defines the train stage.</a:t>
            </a:r>
          </a:p>
          <a:p>
            <a:pPr lvl="0"/>
            <a:r>
              <a:rPr>
                <a:latin typeface="Courier"/>
              </a:rPr>
              <a:t>dvc.lock</a:t>
            </a:r>
            <a:r>
              <a:rPr/>
              <a:t> captures the exact pipeline state after reproduction.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Dataset</a:t>
            </a:r>
          </a:p>
        </p:txBody>
      </p:sp>
      <p:pic>
        <p:nvPicPr>
          <p:cNvPr descr="presentation_assets/dataset_samp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data/train</a:t>
            </a:r>
            <a:r>
              <a:rPr/>
              <a:t>: 1,000 images.</a:t>
            </a:r>
          </a:p>
          <a:p>
            <a:pPr lvl="0"/>
            <a:r>
              <a:rPr>
                <a:latin typeface="Courier"/>
              </a:rPr>
              <a:t>data/validation</a:t>
            </a:r>
            <a:r>
              <a:rPr/>
              <a:t>: 800 images.</a:t>
            </a:r>
          </a:p>
          <a:p>
            <a:pPr lvl="0"/>
            <a:r>
              <a:rPr/>
              <a:t>Classes are inferred from folder names:</a:t>
            </a:r>
          </a:p>
          <a:p>
            <a:pPr lvl="1"/>
            <a:r>
              <a:rPr>
                <a:latin typeface="Courier"/>
              </a:rPr>
              <a:t>cats</a:t>
            </a:r>
          </a:p>
          <a:p>
            <a:pPr lvl="1"/>
            <a:r>
              <a:rPr>
                <a:latin typeface="Courier"/>
              </a:rPr>
              <a:t>dogs</a:t>
            </a:r>
          </a:p>
          <a:p>
            <a:pPr lvl="0"/>
            <a:r>
              <a:rPr/>
              <a:t>Total local dataset size: 1,800 image files.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dvc.yaml</a:t>
            </a:r>
            <a:r>
              <a:rPr/>
              <a:t> defines one stage: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train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cmd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python train.py --config params.yaml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deps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train.py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data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outs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model.weights.h5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bottleneck_features_train.npy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bottleneck_features_validation.npy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metrics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metrics.csv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params.yaml</a:t>
            </a:r>
            <a:r>
              <a:rPr/>
              <a:t> controls the training configuration:</a:t>
            </a:r>
          </a:p>
          <a:p>
            <a:pPr lvl="0"/>
            <a:r>
              <a:rPr/>
              <a:t>Image size: </a:t>
            </a:r>
            <a:r>
              <a:rPr>
                <a:latin typeface="Courier"/>
              </a:rPr>
              <a:t>150 x 150</a:t>
            </a:r>
            <a:r>
              <a:rPr/>
              <a:t>.</a:t>
            </a:r>
          </a:p>
          <a:p>
            <a:pPr lvl="0"/>
            <a:r>
              <a:rPr/>
              <a:t>Epochs: </a:t>
            </a:r>
            <a:r>
              <a:rPr>
                <a:latin typeface="Courier"/>
              </a:rPr>
              <a:t>10</a:t>
            </a:r>
            <a:r>
              <a:rPr/>
              <a:t>.</a:t>
            </a:r>
          </a:p>
          <a:p>
            <a:pPr lvl="0"/>
            <a:r>
              <a:rPr/>
              <a:t>Batch size: </a:t>
            </a:r>
            <a:r>
              <a:rPr>
                <a:latin typeface="Courier"/>
              </a:rPr>
              <a:t>10</a:t>
            </a:r>
            <a:r>
              <a:rPr/>
              <a:t>.</a:t>
            </a:r>
          </a:p>
          <a:p>
            <a:pPr lvl="0"/>
            <a:r>
              <a:rPr/>
              <a:t>Training data: </a:t>
            </a:r>
            <a:r>
              <a:rPr>
                <a:latin typeface="Courier"/>
              </a:rPr>
              <a:t>data/train</a:t>
            </a:r>
            <a:r>
              <a:rPr/>
              <a:t>.</a:t>
            </a:r>
          </a:p>
          <a:p>
            <a:pPr lvl="0"/>
            <a:r>
              <a:rPr/>
              <a:t>Validation data: </a:t>
            </a:r>
            <a:r>
              <a:rPr>
                <a:latin typeface="Courier"/>
              </a:rPr>
              <a:t>data/validation</a:t>
            </a:r>
            <a:r>
              <a:rPr/>
              <a:t>.</a:t>
            </a:r>
          </a:p>
          <a:p>
            <a:pPr lvl="0"/>
            <a:r>
              <a:rPr/>
              <a:t>Metrics output: </a:t>
            </a:r>
            <a:r>
              <a:rPr>
                <a:latin typeface="Courier"/>
              </a:rPr>
              <a:t>metrics.csv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Load images with Keras </a:t>
            </a:r>
            <a:r>
              <a:rPr>
                <a:latin typeface="Courier"/>
              </a:rPr>
              <a:t>ImageDataGenerator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Rescale pixels by </a:t>
            </a:r>
            <a:r>
              <a:rPr>
                <a:latin typeface="Courier"/>
              </a:rPr>
              <a:t>1 / 255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Use VGG16 without the top layer to extract bottleneck features.</a:t>
            </a:r>
          </a:p>
          <a:p>
            <a:pPr lvl="0" indent="-342900" marL="342900">
              <a:buAutoNum type="arabicPeriod"/>
            </a:pPr>
            <a:r>
              <a:rPr/>
              <a:t>Train a dense classifier:</a:t>
            </a:r>
          </a:p>
          <a:p>
            <a:pPr lvl="1"/>
            <a:r>
              <a:rPr>
                <a:latin typeface="Courier"/>
              </a:rPr>
              <a:t>Flatten</a:t>
            </a:r>
          </a:p>
          <a:p>
            <a:pPr lvl="1"/>
            <a:r>
              <a:rPr>
                <a:latin typeface="Courier"/>
              </a:rPr>
              <a:t>Dense(256, relu)</a:t>
            </a:r>
          </a:p>
          <a:p>
            <a:pPr lvl="1"/>
            <a:r>
              <a:rPr>
                <a:latin typeface="Courier"/>
              </a:rPr>
              <a:t>Dropout(0.5)</a:t>
            </a:r>
          </a:p>
          <a:p>
            <a:pPr lvl="1"/>
            <a:r>
              <a:rPr>
                <a:latin typeface="Courier"/>
              </a:rPr>
              <a:t>Dense(1, sigmoid)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Evidence: Reproduce</a:t>
            </a:r>
          </a:p>
        </p:txBody>
      </p:sp>
      <p:pic>
        <p:nvPicPr>
          <p:cNvPr descr="presentation_assets/dvc_repro_screensh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5981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Evidence: Status</a:t>
            </a:r>
          </a:p>
        </p:txBody>
      </p:sp>
      <p:pic>
        <p:nvPicPr>
          <p:cNvPr descr="presentation_assets/dvc_status_screensh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5981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Metrics</a:t>
            </a:r>
          </a:p>
        </p:txBody>
      </p:sp>
      <p:pic>
        <p:nvPicPr>
          <p:cNvPr descr="presentation_assets/metrics_cha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70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Latest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Final training accuracy: </a:t>
            </a:r>
            <a:r>
              <a:rPr>
                <a:latin typeface="Courier"/>
              </a:rPr>
              <a:t>96.30%</a:t>
            </a:r>
            <a:r>
              <a:rPr/>
              <a:t>.</a:t>
            </a:r>
          </a:p>
          <a:p>
            <a:pPr lvl="0"/>
            <a:r>
              <a:rPr/>
              <a:t>Final validation accuracy: </a:t>
            </a:r>
            <a:r>
              <a:rPr>
                <a:latin typeface="Courier"/>
              </a:rPr>
              <a:t>90.87%</a:t>
            </a:r>
            <a:r>
              <a:rPr/>
              <a:t>.</a:t>
            </a:r>
          </a:p>
          <a:p>
            <a:pPr lvl="0"/>
            <a:r>
              <a:rPr/>
              <a:t>Best validation accuracy: </a:t>
            </a:r>
            <a:r>
              <a:rPr>
                <a:latin typeface="Courier"/>
              </a:rPr>
              <a:t>91.00%</a:t>
            </a:r>
            <a:r>
              <a:rPr/>
              <a:t> at epoch 7.</a:t>
            </a:r>
          </a:p>
          <a:p>
            <a:pPr lvl="0"/>
            <a:r>
              <a:rPr/>
              <a:t>Tracked metrics file: </a:t>
            </a:r>
            <a:r>
              <a:rPr>
                <a:latin typeface="Courier"/>
              </a:rPr>
              <a:t>metrics.csv</a:t>
            </a:r>
            <a:r>
              <a:rPr/>
              <a:t>.</a:t>
            </a:r>
          </a:p>
          <a:p>
            <a:pPr lvl="0"/>
            <a:r>
              <a:rPr/>
              <a:t>Tracked model artifact: </a:t>
            </a:r>
            <a:r>
              <a:rPr>
                <a:latin typeface="Courier"/>
              </a:rPr>
              <a:t>model.weights.h5</a:t>
            </a:r>
            <a:r>
              <a:rPr/>
              <a:t>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Versioning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project commands:</a:t>
            </a:r>
          </a:p>
          <a:p>
            <a:pPr lvl="0" indent="0">
              <a:buNone/>
            </a:pPr>
            <a:r>
              <a:rPr>
                <a:latin typeface="Courier"/>
              </a:rPr>
              <a:t>dvc add data</a:t>
            </a:r>
            <a:br/>
            <a:r>
              <a:rPr>
                <a:latin typeface="Courier"/>
              </a:rPr>
              <a:t>dvc repro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dvc.yaml dvc.lock params.yaml metrics.csv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"Train cats-vs-dogs model"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tag </a:t>
            </a:r>
            <a:r>
              <a:rPr>
                <a:solidFill>
                  <a:srgbClr val="7D9029"/>
                </a:solidFill>
                <a:latin typeface="Courier"/>
              </a:rPr>
              <a:t>-a</a:t>
            </a:r>
            <a:r>
              <a:rPr>
                <a:latin typeface="Courier"/>
              </a:rPr>
              <a:t> v1.0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"model version"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Sharing and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Configure a DVC remote for data and artifact storage.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dvc push</a:t>
            </a:r>
            <a:r>
              <a:rPr/>
              <a:t> to upload DVC-tracked files.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git push --follow-tags</a:t>
            </a:r>
            <a:r>
              <a:rPr/>
              <a:t> for code, metadata, and model version labels.</a:t>
            </a:r>
          </a:p>
          <a:p>
            <a:pPr lvl="0"/>
            <a:r>
              <a:rPr/>
              <a:t>On another machine, run: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repo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dvc pull</a:t>
            </a:r>
            <a:br/>
            <a:r>
              <a:rPr>
                <a:latin typeface="Courier"/>
              </a:rPr>
              <a:t>dvc repro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repo is a reproducible ML training project, not just a DVC concept demo.</a:t>
            </a:r>
          </a:p>
          <a:p>
            <a:pPr lvl="0"/>
            <a:r>
              <a:rPr/>
              <a:t>DVC connects the dataset, parameters, training code, metrics, and artifacts.</a:t>
            </a:r>
          </a:p>
          <a:p>
            <a:pPr lvl="0"/>
            <a:r>
              <a:rPr/>
              <a:t>Current pipeline state is up to date after running </a:t>
            </a:r>
            <a:r>
              <a:rPr>
                <a:latin typeface="Courier"/>
              </a:rPr>
              <a:t>dvc repro</a:t>
            </a:r>
            <a:r>
              <a:rPr/>
              <a:t>.</a:t>
            </a:r>
          </a:p>
          <a:p>
            <a:pPr lvl="0"/>
            <a:r>
              <a:rPr/>
              <a:t>The revised deck is project-specific and stays under the 20-slide limit.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DVC for ML: Cats vs Dogs Project</dc:title>
  <dc:creator>DVC Example Repo</dc:creator>
  <cp:keywords/>
  <dcterms:created xsi:type="dcterms:W3CDTF">2026-10-13T10:58:14Z</dcterms:created>
  <dcterms:modified xsi:type="dcterms:W3CDTF">2026-10-13T10:58:14Z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October 13, 2026</vt:lpwstr>
  </property>
  <property fmtid="{D5CDD505-2E9C-101B-9397-08002B2CF9AE}" pid="3" name="subtitle">
    <vt:lpwstr>Project-specific walkthrough, pipeline run, and tracked outputs</vt:lpwstr>
  </property>
</Properties>
</file>